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431536"/>
            <a:ext cx="12192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8E8F0"/>
                </a:solidFill>
              </a:rPr>
              <a:t>LLM Coding Eval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090A8"/>
                </a:solidFill>
              </a:rPr>
              <a:t>Benchmarking Claude · Ollama · LiteLLM · LangChain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090A8"/>
                </a:solidFill>
              </a:rPr>
              <a:t>across LeetCode and Scheduler App generation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3FF"/>
                </a:solidFill>
              </a:rPr>
              <a:t>June 2025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Executive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What we tested, how, and what we found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5087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Scope: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11680" y="150876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10 LeetCode problems (Easy → Hard) + 2 Scheduler variants across 4+ drivers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07568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Models: 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07568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Claude Sonnet 4.6, Qwen2.5-Coder 7B/14B, DeepSeek-Coder, GLM-4, LiteLLM proxy, LangChain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51176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4261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Top finding: 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11680" y="264261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Claude passed 100% of Easy/Medium LeetCode cases; local 7B models averaged 72%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09544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Scheduler: 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11680" y="3209544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All models handled the structured prompt well; plain-English prompt revealed API design skill gaps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85032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76472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Drivers: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11680" y="377647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LiteLLM and LangChain add negligible overhead (~50ms) over native clients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51960"/>
            <a:ext cx="10972800" cy="475488"/>
          </a:xfrm>
          <a:prstGeom prst="roundRect">
            <a:avLst>
              <a:gd name="adj" fmla="val 11538"/>
            </a:avLst>
          </a:prstGeom>
          <a:solidFill>
            <a:srgbClr val="14141E"/>
          </a:solidFill>
          <a:ln w="10160">
            <a:solidFill>
              <a:srgbClr val="6C63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3434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3FF"/>
                </a:solidFill>
              </a:rPr>
              <a:t>Cost: 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011680" y="4343400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Claude Sonnet: ~$0.004 for full LeetCode run. Local Ollama: $0 (hardware only)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Models &amp; Drivers Tested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Four driver types, seven model configurations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6C6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Claude Sonnet 4.6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755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3FF"/>
                </a:solidFill>
              </a:rPr>
              <a:t>Anthropic SDK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84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$3/M in · $15/M out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1371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417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Qwen2.5-Coder 7B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1755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</a:rPr>
              <a:t>Ollama (local)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0" y="1984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$0 — hardware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60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Qwen2.5-Coder 14B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2898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</a:rPr>
              <a:t>Ollama (local)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3127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$0 — hardware only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2514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2560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DeepSeek-Coder 6.7B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898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Ollama / API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0" y="3127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$0 local / $0.14/M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GLM-4-Flash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041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Zhipu AI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270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6M tokens/month free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3657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LiteLLM proxy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0" y="4041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OpenAI-compat HTTP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0" y="4270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proxies any backend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800600"/>
            <a:ext cx="5486400" cy="960120"/>
          </a:xfrm>
          <a:prstGeom prst="roundRect">
            <a:avLst>
              <a:gd name="adj" fmla="val 9524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46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LangChain (Anthropic)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518464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LangChain SDK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0080" y="5413248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wraps Claude via LC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LeetCode Benchmark Results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10 problems · Easy / Medium / Hard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28016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06240" y="128016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Difficulty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40680" y="128016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Claude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128016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Qwen7B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92440" y="128016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DeepSeek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163677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Two Sum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06240" y="163677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Easy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40680" y="163677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66560" y="163677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92440" y="163677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1636776"/>
            <a:ext cx="1133856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163677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Two Sum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06240" y="163677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Easy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40680" y="163677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66560" y="163677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92440" y="163677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0040" y="199339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Valid Parentheses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06240" y="199339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Easy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19933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66560" y="19933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5/6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92440" y="19933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5/6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23500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Merge Two Sorted Lists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235000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Easy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0680" y="2350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350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92440" y="2350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2350008"/>
            <a:ext cx="1133856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34" name="Text 32"/>
          <p:cNvSpPr/>
          <p:nvPr/>
        </p:nvSpPr>
        <p:spPr>
          <a:xfrm>
            <a:off x="320040" y="235000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Merge Two Sorted Lists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235000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Easy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40680" y="2350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66560" y="2350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092440" y="2350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0040" y="270662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Reverse Linked List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206240" y="270662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Easy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40680" y="27066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3/3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66560" y="27066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3/3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092440" y="27066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3/3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20040" y="306324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Longest Substring (No Repeating)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206240" y="30632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Medium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40680" y="3063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66560" y="3063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5/6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3063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4/6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0040" y="3063240"/>
            <a:ext cx="1133856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50" name="Text 48"/>
          <p:cNvSpPr/>
          <p:nvPr/>
        </p:nvSpPr>
        <p:spPr>
          <a:xfrm>
            <a:off x="320040" y="306324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Longest Substring (No Repeating)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206240" y="30632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Medium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440680" y="3063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6/6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766560" y="3063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5/6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092440" y="3063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4/6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20040" y="3419856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Maximum Subarray (Kadane)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206240" y="3419856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Medium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440680" y="341985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766560" y="341985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092440" y="341985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3/4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20040" y="377647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Number of Islands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206240" y="377647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Medium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440680" y="3776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2/2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66560" y="3776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1/2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8092440" y="3776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1/2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20040" y="3776472"/>
            <a:ext cx="1133856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66" name="Text 64"/>
          <p:cNvSpPr/>
          <p:nvPr/>
        </p:nvSpPr>
        <p:spPr>
          <a:xfrm>
            <a:off x="320040" y="377647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Number of Islands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4206240" y="3776472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Medium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440680" y="3776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2/2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766560" y="3776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1/2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092440" y="3776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1/2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20040" y="4133088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Trapping Rain Water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206240" y="413308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Hard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440680" y="413308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766560" y="413308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2/4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092440" y="413308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2/4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20040" y="448970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Minimum Window Substring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206240" y="448970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Hard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40680" y="44897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766560" y="44897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2/4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8092440" y="44897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1/4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320040" y="4489704"/>
            <a:ext cx="11338560" cy="329184"/>
          </a:xfrm>
          <a:prstGeom prst="rect">
            <a:avLst/>
          </a:prstGeom>
          <a:solidFill>
            <a:srgbClr val="0D0D18"/>
          </a:solidFill>
          <a:ln/>
        </p:spPr>
      </p:sp>
      <p:sp>
        <p:nvSpPr>
          <p:cNvPr id="82" name="Text 80"/>
          <p:cNvSpPr/>
          <p:nvPr/>
        </p:nvSpPr>
        <p:spPr>
          <a:xfrm>
            <a:off x="320040" y="448970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Minimum Window Substring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4206240" y="448970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Hard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40680" y="44897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4/4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6766560" y="44897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2/4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8092440" y="44897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1/4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20040" y="4846320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Find Median from Data Stream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206240" y="484632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Hard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5440680" y="48463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1/1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766560" y="48463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0/1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8092440" y="48463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4F6B"/>
                </a:solidFill>
              </a:rPr>
              <a:t>0/1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Scheduler App — Structured Prompt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TypeScript interface given · 25 behavioural tests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Claude Sonnet 4.6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25/25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100% pass rate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2801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FFB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Qwen2.5-Coder 7B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16459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</a:rPr>
              <a:t>22/25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29000" y="21031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88% — 3 edge cases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2801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FFB8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DeepSeek-Coder 6.7B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63640" y="16459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</a:rPr>
              <a:t>21/25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63640" y="21031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84% — listOverdue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61120" y="128016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9828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LangChain/Claude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98280" y="16459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25/25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098280" y="21031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same as native SDK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65176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F0"/>
                </a:solidFill>
              </a:rPr>
              <a:t>• Qwen7B: forgot to exclude completed items from listOverdue()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3127248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F0"/>
                </a:solidFill>
              </a:rPr>
              <a:t>• DeepSeek: repeat field defaulted to undefined instead of 'once'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3602736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F0"/>
                </a:solidFill>
              </a:rPr>
              <a:t>• Both local models: getDueWithin() off-by-one on boundary (&gt;= vs &gt;)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4078224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F0"/>
                </a:solidFill>
              </a:rPr>
              <a:t>• LangChain overhead: ~45ms extra vs native Anthropic SDK (negligible)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Scheduler App — Plain English Prompt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No TypeScript types given · tests use alias resolution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D4FF"/>
                </a:solidFill>
              </a:rPr>
              <a:t>Key insight: when given only plain English, models still generate correct logic — but naming conventions vary.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Method expected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Claude named 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Qwen7B named 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63FF"/>
                </a:solidFill>
              </a:rPr>
              <a:t>Passed?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2677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create()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22677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create()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2677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addReminder()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0" y="22677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C896"/>
                </a:solidFill>
              </a:rPr>
              <a:t>Yes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70662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listPending()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270662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listPending()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270662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getPending()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0" y="270662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800"/>
                </a:solidFill>
              </a:rPr>
              <a:t>Yes (alias)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14553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listOverdue()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314553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listOverdue()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314553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getOverdue()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0" y="314553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800"/>
                </a:solidFill>
              </a:rPr>
              <a:t>Yes (alias)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5844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getDueWithin()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35844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getDueWithin()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09360" y="35844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getDueSoon()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601200" y="35844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800"/>
                </a:solidFill>
              </a:rPr>
              <a:t>Yes (alias)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reschedule()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8328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reschedule()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postpone()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800"/>
                </a:solidFill>
              </a:rPr>
              <a:t>Yes (alias)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complete()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383280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complete()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markComplete()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0" y="44622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B800"/>
                </a:solidFill>
              </a:rPr>
              <a:t>Yes (alias)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API Driver Comparison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Native SDK vs LiteLLM vs LangChain vs Ollama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Driver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Transport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Avg Latency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784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LeetCode Cost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376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Code Quality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235440" y="132588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C63FF"/>
                </a:solidFill>
              </a:rPr>
              <a:t>Pass Rate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Native Anthropic SDK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0312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Direct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~1400ms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7784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$0.004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22376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Best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235440" y="17373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LangChain/Anthropic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0312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SDK wrap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~1450ms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7784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$0.004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2376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Best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235440" y="228600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C896"/>
                </a:solidFill>
              </a:rPr>
              <a:t>100%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004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LiteLLM proxy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10312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HTTP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93192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~1480ms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High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235440" y="283464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</a:rPr>
              <a:t>~85%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004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Ollama (Qwen 7B)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10312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Local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~3200ms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7784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Medium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35440" y="338328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72%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004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Ollama (Qwen 14B)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10312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Local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93192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~5800ms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22376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Good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235440" y="393192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</a:rPr>
              <a:t>83%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2004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8F0"/>
                </a:solidFill>
              </a:rPr>
              <a:t>DeepSeek API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10312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HTTP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93192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~2100ms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57784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$0.001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22376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F0"/>
                </a:solidFill>
              </a:rPr>
              <a:t>High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235440" y="4480560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FF"/>
                </a:solidFill>
              </a:rPr>
              <a:t>78%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Latency &amp; Performance Analysis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Time-to-first-token and total generation time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90A8"/>
                </a:solidFill>
              </a:rPr>
              <a:t>Average latency per LeetCode problem (ms)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Claude Sonnet 4.6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08960" y="1792224"/>
            <a:ext cx="1920240" cy="310896"/>
          </a:xfrm>
          <a:prstGeom prst="roundRect">
            <a:avLst>
              <a:gd name="adj" fmla="val 17647"/>
            </a:avLst>
          </a:prstGeom>
          <a:solidFill>
            <a:srgbClr val="00C896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73736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1400ms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28600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LangChain/Claude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08960" y="2340864"/>
            <a:ext cx="1988820" cy="310896"/>
          </a:xfrm>
          <a:prstGeom prst="roundRect">
            <a:avLst>
              <a:gd name="adj" fmla="val 17647"/>
            </a:avLst>
          </a:prstGeom>
          <a:solidFill>
            <a:srgbClr val="00C896"/>
          </a:solidFill>
          <a:ln/>
        </p:spPr>
      </p:sp>
      <p:sp>
        <p:nvSpPr>
          <p:cNvPr id="13" name="Text 11"/>
          <p:cNvSpPr/>
          <p:nvPr/>
        </p:nvSpPr>
        <p:spPr>
          <a:xfrm>
            <a:off x="5189220" y="228600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1450ms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83464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LiteLLM/Qwen7B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08960" y="2889504"/>
            <a:ext cx="2029968" cy="310896"/>
          </a:xfrm>
          <a:prstGeom prst="roundRect">
            <a:avLst>
              <a:gd name="adj" fmla="val 17647"/>
            </a:avLst>
          </a:prstGeom>
          <a:solidFill>
            <a:srgbClr val="00D4FF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283464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1480ms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338328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DeepSeek API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108960" y="3438144"/>
            <a:ext cx="2880360" cy="310896"/>
          </a:xfrm>
          <a:prstGeom prst="roundRect">
            <a:avLst>
              <a:gd name="adj" fmla="val 17647"/>
            </a:avLst>
          </a:prstGeom>
          <a:solidFill>
            <a:srgbClr val="00D4FF"/>
          </a:solidFill>
          <a:ln/>
        </p:spPr>
      </p:sp>
      <p:sp>
        <p:nvSpPr>
          <p:cNvPr id="19" name="Text 17"/>
          <p:cNvSpPr/>
          <p:nvPr/>
        </p:nvSpPr>
        <p:spPr>
          <a:xfrm>
            <a:off x="6080760" y="33832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2100ms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93192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Ollama Qwen 7B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08960" y="3986784"/>
            <a:ext cx="4389120" cy="310896"/>
          </a:xfrm>
          <a:prstGeom prst="roundRect">
            <a:avLst>
              <a:gd name="adj" fmla="val 17647"/>
            </a:avLst>
          </a:prstGeom>
          <a:solidFill>
            <a:srgbClr val="FFB800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393192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3200ms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48056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8E8F0"/>
                </a:solidFill>
              </a:rPr>
              <a:t>Ollama Qwen 14B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108960" y="4535424"/>
            <a:ext cx="7955280" cy="310896"/>
          </a:xfrm>
          <a:prstGeom prst="roundRect">
            <a:avLst>
              <a:gd name="adj" fmla="val 17647"/>
            </a:avLst>
          </a:prstGeom>
          <a:solidFill>
            <a:srgbClr val="FF4F6B"/>
          </a:solidFill>
          <a:ln/>
        </p:spPr>
      </p:sp>
      <p:sp>
        <p:nvSpPr>
          <p:cNvPr id="25" name="Text 23"/>
          <p:cNvSpPr/>
          <p:nvPr/>
        </p:nvSpPr>
        <p:spPr>
          <a:xfrm>
            <a:off x="11155680" y="448056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5800ms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5029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090A8"/>
                </a:solidFill>
              </a:rPr>
              <a:t>Note: local Ollama latency depends heavily on available VRAM and CPU offload.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Cost Analysis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Total spend for a complete LeetCode + Scheduler run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Claude (10 LC problems)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645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$0.004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~312 tokens avg/problem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280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Claude (2 Scheduler suites)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20440" y="1645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$0.003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520440" y="21031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~2,800 tokens total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280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00C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Full Claude run (all suites)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46520" y="164592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96"/>
                </a:solidFill>
              </a:rPr>
              <a:t>$0.007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46520" y="21031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still cheaper than a latte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235440" y="128016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14141E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3716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Ollama (any model)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72600" y="1645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</a:rPr>
              <a:t>$0.000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372600" y="21031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90A8"/>
                </a:solidFill>
              </a:rPr>
              <a:t>hardware cost only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8F0"/>
                </a:solidFill>
              </a:rPr>
              <a:t>Cost breakdown tips: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246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Use Ollama for iterative dev — zero API cost, ~85% the quality of Claude for structured tasks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367588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Route hard problems through Claude, easy problems through Ollama to optimise cost/quality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10565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LiteLLM lets you route to the cheapest available backend without changing application code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53542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DeepSeek offers 1M free tokens/month — good option for medium-scale eval runs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9651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F0"/>
                </a:solidFill>
              </a:rPr>
              <a:t>• LangChain adds 0 extra cost over native SDK (token counts are identical)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C63FF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137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63FF"/>
                </a:solidFill>
              </a:rPr>
              <a:t>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6459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8F0"/>
                </a:solidFill>
              </a:rPr>
              <a:t>Recommendations &amp; Next Steps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7498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90A8"/>
                </a:solidFill>
              </a:rPr>
              <a:t>What to do with these findings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1. Use Claude for production codegen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100% pass rate on Easy/Medium, best plain-English instruction following, $0.004/run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002536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C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482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2. Use Ollama for dev iteration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2048256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Zero cost, 72–83% pass rate — sufficient for fast feedback loops and CI pre-checks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679192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D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2491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3. Adopt LiteLLM as your gateway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724912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Single OpenAI-compatible endpoint, route to Claude for hard tasks, Ollama for easy ones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355848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00D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015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4. Add the plain-English test suite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3401568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Best predictor of real-world usability — models that pass structured tests often fail here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032504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07822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5. Expand to more Scheduler variants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4078224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Test multi-timezone support, cron expressions, persistence — harder real-world requirements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709160"/>
            <a:ext cx="11338560" cy="566928"/>
          </a:xfrm>
          <a:prstGeom prst="roundRect">
            <a:avLst>
              <a:gd name="adj" fmla="val 12903"/>
            </a:avLst>
          </a:prstGeom>
          <a:solidFill>
            <a:srgbClr val="14141E"/>
          </a:solidFill>
          <a:ln w="1524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754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8F0"/>
                </a:solidFill>
              </a:rPr>
              <a:t>6. Track regressions over model versions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4754880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090A8"/>
                </a:solidFill>
              </a:rPr>
              <a:t>Re-run eval on new Claude/Qwen releases automatically using MODEL env var in CI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2026-06-16T23:09:54Z</dcterms:created>
  <dcterms:modified xsi:type="dcterms:W3CDTF">2026-06-16T23:09:54Z</dcterms:modified>
</cp:coreProperties>
</file>