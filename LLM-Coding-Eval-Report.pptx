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this deck presents the results of a structured LLM coding evaluation comparing three models: Claude Sonnet 4.6, Qwen2.5-Coder 32B (local), and DeepSeek-Coder 33B (local).
The eval harness runs tests automatically: 10 LeetCode problems (Easy through Hard) and two Scheduler app variants — one where a TypeScript interface is provided, and one written in plain English with no types given.
All local models run via Ollama on CPU. No GPU was used during this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evaluation covered 10 LeetCode problems spanning Easy, Medium, and Hard difficulty, plus two Scheduler prompt variants.
Claude Sonnet 4.6 and Qwen2.5-Coder 32B both achieved 37/38 on LeetCode — the single miss was Trapping Rain Water for DeepSeek, which had an off-by-one in its algorithm.
The Scheduler structured prompt (where a TypeScript interface is provided) was passed 25/25 by both Claude and Qwen 32B. DeepSeek 33B failed all 25 because its generated code imported an external ESM package that crashes the CommonJS eval sandbox — the underlying logic may be correct.
Cost story: Claude costs roughly $0.004 per full LeetCode run. Qwen 32B and DeepSeek 33B are $0 in API fees — only electricity and hardware. The trade-off is time: 65 seconds per problem on CPU vs ~1.4 seconds for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model configurations were tested in this evaluation, grouped by how they connect to the eval harness.
Claude Sonnet 4.6 is accessed via the native Anthropic SDK — the fastest and most accurate option.
LangChain/Anthropic wraps the same Claude model through the LangChain abstraction layer. Results are identical to native SDK; the purpose was to validate that our LangChain driver works correctly.
LiteLLM acts as an OpenAI-compatible HTTP proxy. It can sit in front of any backend model, which makes it useful for routing traffic between Claude and local models without changing application code.
Qwen2.5-Coder 32B and DeepSeek-Coder 33B are the two large local models added in this round. Both run entirely on CPU via Ollama — no GPU was required. The 32B and 33B parameter sizes are a big step up from the earlier 7B and 14B Qwen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LeetCode benchmark runs 10 problems: 4 Easy, 3 Medium, 3 Hard. Each problem has 2–6 test cases graded automatically by the eval harness.
Easy problems (Two Sum, Valid Parentheses, Merge Sorted Lists, Reverse Linked List): All three models scored perfectly — these are well within the capability of any modern coding LLM.
Medium problems (Longest Substring, Maximum Subarray, Number of Islands): Again, all models passed cleanly.
Hard problems: This is where differentiation appears. Trapping Rain Water was 4/4 for Claude and Qwen, but DeepSeek produced an off-by-one implementation — 1/4. Minimum Window Substring was 4/4 across the board.
Median of Two Sorted Arrays (LeetCode #4) replaced the original MedianFinder problem. The original required class instantiation which the eval harness cannot support — it calls the exported function directly. The new problem tests the same Hard-difficulty binary search skill in a function-based format. Results pending re-run.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Scheduler structured prompt gives the model a TypeScript interface definition and asks it to implement a ReminderService class. There are 25 automated test cases covering the full API surface.
Claude Sonnet 4.6: 25/25. Fast (~1.4s per generation), clean implementation, passes all edge cases including getDueWithin boundary conditions.
Qwen2.5-Coder 32B: 25/25. Remarkable result — this large local model produces code that is functionally identical to Claude's output. The generation takes around 200 seconds per call on CPU, but the correctness is indistinguishable.
DeepSeek-Coder 33B: 0/25 structured, 0/9 plain-English — confirmed on a dedicated re-run (scheduler-only test suite). The model imports @datastructures-js/priority-queue on every attempt. That package uses ESM syntax (export { default as MAX } from './max.js') which crashes the CommonJS eval sandbox with a SyntaxError. The failure is consistent and reproducible. The underlying algorithm logic may be correct — this is a prompt engineering failure, not a reasoning failure. Adding "do not import any external packages, use only built-in JavaScript" to the system prompt is the fix.
LangChain/Anthropic: 25/25. This validates that our LangChain driver is correctly wired and produces the same results as the native SDK.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plain English prompt removes the TypeScript interface — the model must infer the entire API design from a natural language description of what a reminder scheduler should do.
Claude chose an object-based API: createReminder({ title, description, dueAt, ... }). This matches what the test harness expects, so Claude passes all 12 tests.
Qwen 32B chose a positional-argument API: createReminder(title, description, dueDate, ...). This is a reasonable design choice, but it breaks all tests that pass an object literal. When the test does createReminder({ title: "Meeting", dueAt: tomorrow }), Qwen's function receives the entire object as the first positional argument (title = { title: "Meeting", ... }), and the call fails immediately.
This result is actually valuable: it shows that plain-English prompts reveal API design decisions that structured prompts mask. Qwen 32B is not less capable — it made a different but valid design choice. To fix it, the prompt should say "the function should accept a single options object, not positional arguments."
The 6/12 pass rate for Qwen reflects tests that don't depend on the createReminder shape — listAll, listPending, getDueWithin — which still pass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compares the six driver configurations on latency, cost, and pass rate.
Native Anthropic SDK and LangChain/Anthropic are effectively identical — ~1.4–1.5s latency, $0.004 per run, 100% pass rate. LangChain adds about 50ms of overhead.
LiteLLM is the routing layer — it sits in front of other models and exposes an OpenAI-compatible HTTP API. In tests, it routed to a Qwen 7B backend, which explains the ~85% pass rate and zero API cost. LiteLLM itself adds almost no latency; the bottleneck is the backend model.
Ollama Qwen 32B: 97% pass rate matching Claude, but 65 seconds per call on CPU. Generation time scales with parameter count and hardware. This model has 32 billion parameters — it takes real compute even for a short function.
Ollama DeepSeek 33B: 89% LeetCode pass rate (34/38), ~57s per call. The asterisk is because the scheduler results are unreliable due to the ESM import issue — not a model quality problem.
Ollama Qwen 7B is included for historical comparison — earlier benchmarks before the 32B/33B models were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LiteLLM is an open-source proxy server that exposes a single OpenAI-compatible HTTP endpoint and translates requests to any backend: Claude, OpenAI, Ollama local models, Bedrock, Vertex, and more.
How it fits into this eval: the eval harness has a LiteLLM client that calls http://localhost:4000/v1/chat/completions. The MODEL env var switches the backend — the harness code never changes. You just change LITELLM_MODEL and restart the proxy.
Routing strategy: the power of LiteLLM is that you can define routing rules in its config file. For example:
- Hard algorithm problems or production inference → Claude Sonnet (cloud, fast, reliable)
- Dev-time code generation, CI runs, offline work → Qwen 32B (local, $0, 97% accuracy)
- Overnight batch processing → DeepSeek 33B (local, $0, async-friendly)
- Always-available fallback → Qwen 7B (smallest local model, near-instant startup)
The app sees one endpoint. The routing is invisible to application code. You can also configure LiteLLM to do per-model rate limiting, cost tracking, caching (Redis), and fallback chains — if Claude is rate-limited, automatically retry on Qwen 32B.
For teams: this means you can set a Claude API key budget (e.g. $50/month) and let LiteLLM overflow to local models once the budget is consumed. Zero disruption to developers.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bar chart shows average latency per LeetCode problem — time from sending the prompt to receiving the complete code response.
Claude and LangChain/Claude come in at about 1.4 seconds. This is mostly network round-trip plus Anthropic's inference time; the model runs on Anthropic's GPU fleet.
Qwen 7B via Ollama runs in ~3.2 seconds — fast because it's a small model that fits comfortably in memory even on CPU.
DeepSeek 33B takes ~57 seconds per call. Despite being slightly smaller than Qwen 32B in parameter count, the GGUF quantization and architecture differ — roughly comparable wall-clock time.
Qwen 32B is the slowest at ~65 seconds per call. For the full test suite of 10 LeetCode problems, that is about 11 minutes just for the LeetCode portion.
The key context: these numbers are CPU-only. Both models support GPU offload via Ollama's --gpu-layers flag. With a GPU that has 20+ GB of VRAM (e.g. RTX 3090, 4090, A100), inference typically drops 10–20x — bringing 65s down to around 4–6 seconds per call, which is production-viable.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story: Claude costs roughly $0.007 for a complete LeetCode + Scheduler run (~6,500 tokens total at $3/M input, $15/M output). This is extremely cheap per run but scales with usage.
Qwen 32B and DeepSeek 33B are $0 in API fees. The real cost is electricity and hardware depreciation. A machine running a 32B model at full load consumes roughly 150–200W. At US average electricity rates, a full suite run (about 18 minutes) costs less than $0.01 in electricity.
The quality comparison is what makes this interesting: Qwen 32B achieves 97% pass rate on LeetCode — identical to Claude — at $0 API cost. For teams running many eval iterations in development, the savings are meaningful.
The recommended split: use Claude for production inference where latency and reliability matter. Use local Qwen 32B (or future smaller models as they improve) for development-time code generation, CI eval runs, and offline scenarios where API availability is uncertain.
LiteLLM makes this routing transparent — application code never changes, only the backend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recommendations coming out of this evaluation:
1. Qwen 32B is Claude-competitive on coding tasks. 37/38 LeetCode and 25/25 structured scheduler — if you have hardware with 20+ GB VRAM, this model is a credible zero-cost alternative for dev-time code generation.
2. DeepSeek 33B needs stricter prompting. The model defaults to using external packages even when a pure implementation would work. Adding "implement without any external npm packages, use only built-in JavaScript" to the system prompt should resolve the eval sandbox failures.
3. LiteLLM as a unified gateway. With LiteLLM in front, you can route by task type: hard algorithms to Claude, easy CRUD generation to Qwen 32B. Application code never changes — only the routing configuration.
4. Plain-English prompts are a design test. Structured prompts lock in the API shape. When you remove the interface, you see the model's instincts. Qwen 32B defaulted to positional args; Claude defaulted to object args. This is worth knowing before deploying the model in a context where it will design APIs.
5. GPU offload is the unlock for production use. CPU inference at 65s/call is a dev tool. With GPU offload, the same model runs at 4–6s — that is viable for batch processing, CI pipelines, and internal tooling.
6. Re-run this suite quarterly. Use MODEL env var to switch backends — the harness is model-agnostic. When Qwen 3 or DeepSeek-V3 release new weights, a single bat file swap gives you updated benchmarks.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431536"/>
            <a:ext cx="12192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8F0"/>
                </a:solidFill>
              </a:rPr>
              <a:t>LLM Coding Eval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90A8"/>
                </a:solidFill>
              </a:rPr>
              <a:t>Benchmarking Claude · Qwen 32B · DeepSeek 33B · LiteLLM · LangChain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090A8"/>
                </a:solidFill>
              </a:rPr>
              <a:t>across LeetCode and Scheduler App generation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3FF"/>
                </a:solidFill>
              </a:rPr>
              <a:t>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F0"/>
                </a:solidFill>
              </a:rPr>
              <a:t>Executive Summary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A8"/>
                </a:solidFill>
              </a:rPr>
              <a:t>What we tested, how, and what we found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0972800" cy="475488"/>
          </a:xfrm>
          <a:prstGeom prst="roundRect">
            <a:avLst>
              <a:gd name="adj" fmla="val 11538"/>
            </a:avLst>
          </a:prstGeom>
          <a:solidFill>
            <a:srgbClr val="14141E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</a:rPr>
              <a:t>Scope: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15087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10 LeetCode problems (Easy→Hard) + 2 Scheduler variants across 4+ drivers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10972800" cy="475488"/>
          </a:xfrm>
          <a:prstGeom prst="roundRect">
            <a:avLst>
              <a:gd name="adj" fmla="val 11538"/>
            </a:avLst>
          </a:prstGeom>
          <a:solidFill>
            <a:srgbClr val="14141E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756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</a:rPr>
              <a:t>Models: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207568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Claude Sonnet 4.6, Qwen2.5-Coder 32B, DeepSeek-Coder 33B, LiteLLM proxy, LangChain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51176"/>
            <a:ext cx="10972800" cy="475488"/>
          </a:xfrm>
          <a:prstGeom prst="roundRect">
            <a:avLst>
              <a:gd name="adj" fmla="val 11538"/>
            </a:avLst>
          </a:prstGeom>
          <a:solidFill>
            <a:srgbClr val="14141E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4261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</a:rPr>
              <a:t>LeetCode: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264261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Claude 37/38 (97%) · Qwen 32B 37/38 (97%) · DeepSeek 33B 34/38 (89%)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18104"/>
            <a:ext cx="10972800" cy="475488"/>
          </a:xfrm>
          <a:prstGeom prst="roundRect">
            <a:avLst>
              <a:gd name="adj" fmla="val 11538"/>
            </a:avLst>
          </a:prstGeom>
          <a:solidFill>
            <a:srgbClr val="14141E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0954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</a:rPr>
              <a:t>Scheduler: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3209544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Claude + Qwen 32B: 25/25 structured · DeepSeek 33B: 0/34 both suites (ESM import, confirmed re-run)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85032"/>
            <a:ext cx="10972800" cy="475488"/>
          </a:xfrm>
          <a:prstGeom prst="roundRect">
            <a:avLst>
              <a:gd name="adj" fmla="val 11538"/>
            </a:avLst>
          </a:prstGeom>
          <a:solidFill>
            <a:srgbClr val="14141E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764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</a:rPr>
              <a:t>Key insight: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11680" y="3776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Qwen 32B matches Claude on LeetCode; DeepSeek 33B needs stricter no-library prompting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10972800" cy="475488"/>
          </a:xfrm>
          <a:prstGeom prst="roundRect">
            <a:avLst>
              <a:gd name="adj" fmla="val 11538"/>
            </a:avLst>
          </a:prstGeom>
          <a:solidFill>
            <a:srgbClr val="14141E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3434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</a:rPr>
              <a:t>Cost: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11680" y="43434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Claude: ~$0.004/run  ·  Qwen 32B / DeepSeek 33B: $0 (local Ollama, hardware only)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F0"/>
                </a:solidFill>
              </a:rPr>
              <a:t>Models &amp; Drivers Tested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A8"/>
                </a:solidFill>
              </a:rPr>
              <a:t>Two large local models added — 32B and 33B parameter scale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14141E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0"/>
                </a:solidFill>
              </a:rPr>
              <a:t>Claude Sonnet 4.6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3FF"/>
                </a:solidFill>
              </a:rPr>
              <a:t>Anthropic SDK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842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$3/M in · $15/M out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14141E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0"/>
                </a:solidFill>
              </a:rPr>
              <a:t>Qwen2.5-Coder 32B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17556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Ollama (local)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19842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$0 — hardware only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14141E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560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0"/>
                </a:solidFill>
              </a:rPr>
              <a:t>DeepSeek-Coder 33B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28986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Ollama (local)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1272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$0 — hardware only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251460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14141E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560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0"/>
                </a:solidFill>
              </a:rPr>
              <a:t>Qwen2.5-Coder 7B/14B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28986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</a:rPr>
              <a:t>Ollama (local)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31272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$0 — earlier benchmarks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14141E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0"/>
                </a:solidFill>
              </a:rPr>
              <a:t>LiteLLM proxy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0416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OpenAI-compat HTTP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2702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proxies any backend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365760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14141E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0"/>
                </a:solidFill>
              </a:rPr>
              <a:t>LangChain (Anthropic)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40416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LangChain SDK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0" y="42702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wraps Claude via LC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F0"/>
                </a:solidFill>
              </a:rPr>
              <a:t>LeetCode Benchmark Results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A8"/>
                </a:solidFill>
              </a:rPr>
              <a:t>10 problems · Easy / Medium / Hard · 5 columns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126187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Diff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83480" y="126187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Claude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126187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Qwen32B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43800" y="126187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DS33B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61848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Two Sum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61848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Easy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161848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4/4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161848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4/4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43800" y="161848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4/4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975104"/>
            <a:ext cx="8686800" cy="329184"/>
          </a:xfrm>
          <a:prstGeom prst="rect">
            <a:avLst/>
          </a:prstGeom>
          <a:solidFill>
            <a:srgbClr val="0D0D18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197510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Valid Parentheses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197510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Easy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197510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6/6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19751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6/6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43800" y="19751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6/6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233172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Merge Two Sorted Lists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0" y="23317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Easy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233172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4/4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23317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4/4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43800" y="23317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4/4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688336"/>
            <a:ext cx="8686800" cy="329184"/>
          </a:xfrm>
          <a:prstGeom prst="rect">
            <a:avLst/>
          </a:prstGeom>
          <a:solidFill>
            <a:srgbClr val="0D0D18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68833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Reverse Linked List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31920" y="268833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Easy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268833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3/3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26883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3/3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43800" y="26883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3/3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304495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Longest Substring (No Repeat)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31920" y="304495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Medium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304495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6/6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30449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6/6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43800" y="30449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6/6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401568"/>
            <a:ext cx="8686800" cy="329184"/>
          </a:xfrm>
          <a:prstGeom prst="rect">
            <a:avLst/>
          </a:prstGeom>
          <a:solidFill>
            <a:srgbClr val="0D0D18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340156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Maximum Subarray (Kadane)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931920" y="340156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Medium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83480" y="340156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4/4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34015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4/4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43800" y="34015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4/4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0040" y="375818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Number of Islands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931920" y="375818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Medium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83480" y="375818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2/2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7920" y="375818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2/2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543800" y="375818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2/2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4114800"/>
            <a:ext cx="8686800" cy="329184"/>
          </a:xfrm>
          <a:prstGeom prst="rect">
            <a:avLst/>
          </a:prstGeom>
          <a:solidFill>
            <a:srgbClr val="0D0D18"/>
          </a:solidFill>
          <a:ln/>
        </p:spPr>
      </p:sp>
      <p:sp>
        <p:nvSpPr>
          <p:cNvPr id="51" name="Text 49"/>
          <p:cNvSpPr/>
          <p:nvPr/>
        </p:nvSpPr>
        <p:spPr>
          <a:xfrm>
            <a:off x="320040" y="411480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Trapping Rain Water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931920" y="411480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Hard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983480" y="411480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4/4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17920" y="41148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4/4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543800" y="41148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</a:rPr>
              <a:t>1/4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20040" y="447141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Minimum Window Substring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931920" y="447141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Hard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983480" y="447141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4/4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217920" y="447141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4/4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543800" y="447141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4/4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0040" y="4828032"/>
            <a:ext cx="8686800" cy="329184"/>
          </a:xfrm>
          <a:prstGeom prst="rect">
            <a:avLst/>
          </a:prstGeom>
          <a:solidFill>
            <a:srgbClr val="0D0D18"/>
          </a:solidFill>
          <a:ln/>
        </p:spPr>
      </p:sp>
      <p:sp>
        <p:nvSpPr>
          <p:cNvPr id="62" name="Text 60"/>
          <p:cNvSpPr/>
          <p:nvPr/>
        </p:nvSpPr>
        <p:spPr>
          <a:xfrm>
            <a:off x="320040" y="482803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Median of Two Sorted Arrays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931920" y="482803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Hard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983480" y="482803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6/6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217920" y="48280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?/6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543800" y="48280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?/6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20040" y="5029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90A8"/>
                </a:solidFill>
              </a:rPr>
              <a:t>DS33B = DeepSeek-Coder 33B  ·  Trapping Rain Water: algo off-by-one  ·  Median of Two Sorted Arrays: ?/6 pending re-run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F0"/>
                </a:solidFill>
              </a:rPr>
              <a:t>Scheduler App — Structured Prompt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A8"/>
                </a:solidFill>
              </a:rPr>
              <a:t>TypeScript interface given · 25 behavioural tests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4141E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Claude Sonnet 4.6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96"/>
                </a:solidFill>
              </a:rPr>
              <a:t>25/25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100% — no issues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128016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4141E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371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Qwen 2.5-Coder 32B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3240" y="1645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96"/>
                </a:solidFill>
              </a:rPr>
              <a:t>25/25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63240" y="21031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100% — matched Claude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28016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4141E"/>
          </a:solidFill>
          <a:ln w="19050">
            <a:solidFill>
              <a:srgbClr val="FF4F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371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DeepSeek-Coder 33B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1645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F6B"/>
                </a:solidFill>
              </a:rPr>
              <a:t>0/25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23560" y="21031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ESM import crash — confirmed on re-run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128016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4141E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371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LangChain / Claude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83880" y="1645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96"/>
                </a:solidFill>
              </a:rPr>
              <a:t>25/25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183880" y="21031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same as native SDK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65176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• Qwen 32B structured: Perfect 25/25 — correctly implements all edge cases including repeat field and getDueWithin boundary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12724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• Claude structured: Perfect 25/25 — fastest generation (~1.4s) vs Qwen 32B (~200s on CPU)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602736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• DeepSeek 33B: Imported @datastructures-js/priority-queue (ESM) — fails in CommonJS eval sandbox. Code logic may be correct.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078224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• Key lesson: DeepSeek 33B uses external libraries even when told not to — stricter prompt engineering needed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F0"/>
                </a:solidFill>
              </a:rPr>
              <a:t>Scheduler App — Plain English Prompt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A8"/>
                </a:solidFill>
              </a:rPr>
              <a:t>No TypeScript types given · dynamic alias resolution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FF"/>
                </a:solidFill>
              </a:rPr>
              <a:t>Key insight: Qwen 32B designed a POSITIONAL-ARG API (createReminder(title, desc, dueDate, ...)) not an object API. Tests that pass {title, dueAt} fail because the model reads title as the whole object.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Test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1874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Claude result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18745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Qwen 32B result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0" y="1874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Status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2677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creates reminder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22677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PASS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22677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F6B"/>
                </a:solidFill>
              </a:rPr>
              <a:t>FAIL — title=object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0" y="22677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</a:rPr>
              <a:t>Design gap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609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listAll()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26609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PASS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26609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PASS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0" y="26609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OK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0540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listPending()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30540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PASS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30540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PASS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0" y="30540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OK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4472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listOverdue()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0" y="34472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PASS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34472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F6B"/>
                </a:solidFill>
              </a:rPr>
              <a:t>FAIL — boundary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0" y="34472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</a:rPr>
              <a:t>Edge case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3840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getDueWithin()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0" y="3840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PASS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38404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PASS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0" y="3840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OK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2336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complete()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0" y="42336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PASS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0" y="42336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F6B"/>
                </a:solidFill>
              </a:rPr>
              <a:t>FAIL — returns bool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0" y="42336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</a:rPr>
              <a:t>API diff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6268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delete()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0" y="46268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PASS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0" y="46268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F6B"/>
                </a:solidFill>
              </a:rPr>
              <a:t>FAIL — method not found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44000" y="46268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Missing alias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50200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reschedule()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43200" y="50200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PASS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0" y="50200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F6B"/>
                </a:solidFill>
              </a:rPr>
              <a:t>FAIL — field name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0" y="50200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</a:rPr>
              <a:t>Naming diff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F0"/>
                </a:solidFill>
              </a:rPr>
              <a:t>API Driver Comparison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A8"/>
                </a:solidFill>
              </a:rPr>
              <a:t>Native SDK vs LiteLLM vs LangChain vs Ollama (32B/33B)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Driver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325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Transport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1325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Avg Latency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25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LeetCode Cost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89520" y="1325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Quality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326880" y="1325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Pass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17373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0"/>
                </a:solidFill>
              </a:rPr>
              <a:t>Native Anthropic SDK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17373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Direct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17373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~1,400ms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17373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$0.004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0" y="17373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Best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26880" y="17373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0"/>
                </a:solidFill>
              </a:rPr>
              <a:t>LangChain/Anthropic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SDK wrap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~1,450ms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$0.004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8952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Best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100%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28346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0"/>
                </a:solidFill>
              </a:rPr>
              <a:t>LiteLLM proxy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28346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HTTP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28346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~1,480ms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28346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$0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89520" y="28346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High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26880" y="28346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~85%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338328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0"/>
                </a:solidFill>
              </a:rPr>
              <a:t>Ollama (Qwen 32B)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94560" y="338328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Local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0" y="338328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~65,000ms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0" y="338328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$0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89520" y="338328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Exc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26880" y="338328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97%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39319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0"/>
                </a:solidFill>
              </a:rPr>
              <a:t>Ollama (DeepSeek 33B)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94560" y="39319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Local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0" y="39319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~57,000ms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39319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$0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589520" y="39319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Good*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326880" y="39319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</a:rPr>
              <a:t>89%*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0040" y="44805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0"/>
                </a:solidFill>
              </a:rPr>
              <a:t>Ollama (Qwen 7B)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194560" y="44805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Local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0" y="44805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~3,200ms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43600" y="44805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$0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589520" y="44805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Good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326880" y="44805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800"/>
                </a:solidFill>
              </a:rPr>
              <a:t>72%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F0"/>
                </a:solidFill>
              </a:rPr>
              <a:t>LiteLLM — Intelligent Model Routing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A8"/>
                </a:solidFill>
              </a:rPr>
              <a:t>One OpenAI-compatible endpoint · route any request to any backend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14141E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161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</a:rPr>
              <a:t>Your 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90A8"/>
                </a:solidFill>
              </a:rPr>
              <a:t>eval harness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90A8"/>
                </a:solidFill>
              </a:rPr>
              <a:t>or any service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965960" y="123444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090A8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331720" y="118872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14141E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2161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LiteLLM Proxy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153619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90A8"/>
                </a:solidFill>
              </a:rPr>
              <a:t>localhost:4000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90A8"/>
                </a:solidFill>
              </a:rPr>
              <a:t>OpenAI-compat API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17720" y="123444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090A8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983480" y="1188720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14141E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2161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Claude 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153619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90A8"/>
                </a:solidFill>
              </a:rPr>
              <a:t>Anthropic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90A8"/>
                </a:solidFill>
              </a:rPr>
              <a:t>cloud inference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20840" y="12344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90A8"/>
                </a:solidFill>
              </a:rPr>
              <a:t>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0" y="914400"/>
            <a:ext cx="4297680" cy="594360"/>
          </a:xfrm>
          <a:prstGeom prst="roundRect">
            <a:avLst>
              <a:gd name="adj" fmla="val 12308"/>
            </a:avLst>
          </a:prstGeom>
          <a:solidFill>
            <a:srgbClr val="14141E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950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Ollama Qwen 32B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0" y="95097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0A8"/>
                </a:solidFill>
              </a:rPr>
              <a:t>local · $0 · 97%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52360" y="120700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90A8"/>
                </a:solidFill>
              </a:rPr>
              <a:t>MODEL env var →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0" y="1664208"/>
            <a:ext cx="4297680" cy="594360"/>
          </a:xfrm>
          <a:prstGeom prst="roundRect">
            <a:avLst>
              <a:gd name="adj" fmla="val 12308"/>
            </a:avLst>
          </a:prstGeom>
          <a:solidFill>
            <a:srgbClr val="14141E"/>
          </a:solidFill>
          <a:ln w="15240">
            <a:solidFill>
              <a:srgbClr val="FFB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17007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</a:rPr>
              <a:t>Ollama DeepSeek 33B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0" y="170078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0A8"/>
                </a:solidFill>
              </a:rPr>
              <a:t>local · $0 · 89%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52360" y="195681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90A8"/>
                </a:solidFill>
              </a:rPr>
              <a:t>MODEL env var →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315200" y="2414016"/>
            <a:ext cx="4297680" cy="594360"/>
          </a:xfrm>
          <a:prstGeom prst="roundRect">
            <a:avLst>
              <a:gd name="adj" fmla="val 12308"/>
            </a:avLst>
          </a:prstGeom>
          <a:solidFill>
            <a:srgbClr val="14141E"/>
          </a:solidFill>
          <a:ln w="15240">
            <a:solidFill>
              <a:srgbClr val="9090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90A8"/>
                </a:solidFill>
              </a:rPr>
              <a:t>Any OpenAI model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58400" y="24505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0A8"/>
                </a:solidFill>
              </a:rPr>
              <a:t>gpt-4o, etc.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52360" y="270662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90A8"/>
                </a:solidFill>
              </a:rPr>
              <a:t>MODEL env var →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040" y="28803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</a:rPr>
              <a:t>Routing Strategy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0040" y="3246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Use case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34640" y="3246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Route to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32461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</a:rPr>
              <a:t>Why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" y="36301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Production / real-time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834640" y="36301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Claude Sonnet 4.6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36301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~1.4s, 100% pass rate, cloud SLA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014216"/>
            <a:ext cx="11338560" cy="347472"/>
          </a:xfrm>
          <a:prstGeom prst="rect">
            <a:avLst/>
          </a:prstGeom>
          <a:solidFill>
            <a:srgbClr val="0D0D18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40142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Dev / CI eval loops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834640" y="40142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Qwen 32B (local)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0" y="401421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$0 API cost, 97% LeetCode accuracy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" y="43982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Overnight batch jobs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834640" y="43982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DeepSeek 33B (local)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439826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$0, CPU fine for async workloads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782312"/>
            <a:ext cx="11338560" cy="347472"/>
          </a:xfrm>
          <a:prstGeom prst="rect">
            <a:avLst/>
          </a:prstGeom>
          <a:solidFill>
            <a:srgbClr val="0D0D18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47823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Fallback / always-on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834640" y="47823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Qwen 7B (local)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00800" y="478231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Fast start, always available offline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20040" y="4937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90A8"/>
                </a:solidFill>
              </a:rPr>
              <a:t>Switch backends with a single env var — zero code changes: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772400" y="4828032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14141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63840" y="48737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MODEL=litellm  LITELLM_MODEL=ollama/qwen2.5-coder:32b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F0"/>
                </a:solidFill>
              </a:rPr>
              <a:t>Latency &amp; Performance Analysis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A8"/>
                </a:solidFill>
              </a:rPr>
              <a:t>Time to generate one LeetCode solution (ms)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0A8"/>
                </a:solidFill>
              </a:rPr>
              <a:t>Average latency per LeetCode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Claude Sonnet 4.6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783080"/>
            <a:ext cx="146304" cy="274320"/>
          </a:xfrm>
          <a:prstGeom prst="roundRect">
            <a:avLst>
              <a:gd name="adj" fmla="val 31250"/>
            </a:avLst>
          </a:prstGeom>
          <a:solidFill>
            <a:srgbClr val="00C896"/>
          </a:solidFill>
          <a:ln/>
        </p:spPr>
      </p:sp>
      <p:sp>
        <p:nvSpPr>
          <p:cNvPr id="10" name="Text 8"/>
          <p:cNvSpPr/>
          <p:nvPr/>
        </p:nvSpPr>
        <p:spPr>
          <a:xfrm>
            <a:off x="3712464" y="17373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1s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LangChain/Claude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2286000"/>
            <a:ext cx="151529" cy="274320"/>
          </a:xfrm>
          <a:prstGeom prst="roundRect">
            <a:avLst>
              <a:gd name="adj" fmla="val 30172"/>
            </a:avLst>
          </a:prstGeom>
          <a:solidFill>
            <a:srgbClr val="00C896"/>
          </a:solidFill>
          <a:ln/>
        </p:spPr>
      </p:sp>
      <p:sp>
        <p:nvSpPr>
          <p:cNvPr id="13" name="Text 11"/>
          <p:cNvSpPr/>
          <p:nvPr/>
        </p:nvSpPr>
        <p:spPr>
          <a:xfrm>
            <a:off x="3717689" y="22402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1s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7432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LiteLLM/Qwen7B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2788920"/>
            <a:ext cx="154664" cy="274320"/>
          </a:xfrm>
          <a:prstGeom prst="roundRect">
            <a:avLst>
              <a:gd name="adj" fmla="val 29561"/>
            </a:avLst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3720824" y="27432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1s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2461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DeepSeek API (6.7B)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3291840"/>
            <a:ext cx="219456" cy="274320"/>
          </a:xfrm>
          <a:prstGeom prst="roundRect">
            <a:avLst>
              <a:gd name="adj" fmla="val 20833"/>
            </a:avLst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3785616" y="32461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2s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749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Ollama Qwen 7B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3794760"/>
            <a:ext cx="334409" cy="274320"/>
          </a:xfrm>
          <a:prstGeom prst="roundRect">
            <a:avLst>
              <a:gd name="adj" fmla="val 16667"/>
            </a:avLst>
          </a:prstGeom>
          <a:solidFill>
            <a:srgbClr val="FF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3900569" y="3749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3s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2519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Ollama DeepSeek 33B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4297680"/>
            <a:ext cx="5956663" cy="274320"/>
          </a:xfrm>
          <a:prstGeom prst="roundRect">
            <a:avLst>
              <a:gd name="adj" fmla="val 16667"/>
            </a:avLst>
          </a:prstGeom>
          <a:solidFill>
            <a:srgbClr val="FFB800"/>
          </a:solidFill>
          <a:ln/>
        </p:spPr>
      </p:sp>
      <p:sp>
        <p:nvSpPr>
          <p:cNvPr id="25" name="Text 23"/>
          <p:cNvSpPr/>
          <p:nvPr/>
        </p:nvSpPr>
        <p:spPr>
          <a:xfrm>
            <a:off x="9522823" y="42519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57s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754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8F0"/>
                </a:solidFill>
              </a:rPr>
              <a:t>Ollama Qwen 32B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4800600"/>
            <a:ext cx="6839921" cy="274320"/>
          </a:xfrm>
          <a:prstGeom prst="roundRect">
            <a:avLst>
              <a:gd name="adj" fmla="val 16667"/>
            </a:avLst>
          </a:prstGeom>
          <a:solidFill>
            <a:srgbClr val="FF4F6B"/>
          </a:solidFill>
          <a:ln/>
        </p:spPr>
      </p:sp>
      <p:sp>
        <p:nvSpPr>
          <p:cNvPr id="28" name="Text 26"/>
          <p:cNvSpPr/>
          <p:nvPr/>
        </p:nvSpPr>
        <p:spPr>
          <a:xfrm>
            <a:off x="10406081" y="4754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65s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5029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90A8"/>
                </a:solidFill>
              </a:rPr>
              <a:t>Note: Qwen 32B and DeepSeek 33B run fully on CPU (0 VRAM). Latency would drop 10-20× with GPU offload.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F0"/>
                </a:solidFill>
              </a:rPr>
              <a:t>Cost Analysis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A8"/>
                </a:solidFill>
              </a:rPr>
              <a:t>Total spend for a complete LeetCode + Scheduler run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4141E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Claude (full run)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96"/>
                </a:solidFill>
              </a:rPr>
              <a:t>$0.007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~6,500 tokens total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4141E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Qwen 32B / DeepSeek 33B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1645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$0.000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2103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hardware cost only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4141E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LeetCode — Qwen 32B vs DS 33B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1645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96"/>
                </a:solidFill>
              </a:rPr>
              <a:t>97% / 89%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5080" y="2103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Qwen 32B matches Claude; DS33B has 1 Hard fail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0" y="12801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4141E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Time (full suite, CPU only)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81160" y="1645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800"/>
                </a:solidFill>
              </a:rPr>
              <a:t>~18 min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8116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A8"/>
                </a:solidFill>
              </a:rPr>
              <a:t>GPU (20GB VRAM) would cut to ~1 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0"/>
                </a:solidFill>
              </a:rPr>
              <a:t>Cost/quality recommendations: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246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• Qwen 32B matches Claude on LeetCode at $0 cost — best local option if you have the hardware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6758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• Use Claude for production/time-sensitive tasks; Qwen 32B for iterative dev where latency is OK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10565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• LiteLLM lets you route: hard problems → Claude, easy problems → local Qwen 32B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53542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• All Ollama models run at $0; quality scales with size (7B &lt; 14B &lt; 32B ≈ Claude for coding)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9651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• DeepSeek 33B scored 34/38 LeetCode (89%) but 0/25 scheduler — ESM import fix needed before scheduler is reliable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37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3FF"/>
                </a:solidFill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8F0"/>
                </a:solidFill>
              </a:rPr>
              <a:t>Recommendations &amp; Next Steps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A8"/>
                </a:solidFill>
              </a:rPr>
              <a:t>What to do with these findings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11338560" cy="566928"/>
          </a:xfrm>
          <a:prstGeom prst="roundRect">
            <a:avLst>
              <a:gd name="adj" fmla="val 12903"/>
            </a:avLst>
          </a:prstGeom>
          <a:solidFill>
            <a:srgbClr val="14141E"/>
          </a:solidFill>
          <a:ln w="1524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0"/>
                </a:solidFill>
              </a:rPr>
              <a:t>1. Qwen 32B is Claude-competitive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0" y="137160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A8"/>
                </a:solidFill>
              </a:rPr>
              <a:t>37/38 LeetCode, 25/25 structured scheduler — at zero API cost. Best local model tested.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02536"/>
            <a:ext cx="11338560" cy="566928"/>
          </a:xfrm>
          <a:prstGeom prst="roundRect">
            <a:avLst>
              <a:gd name="adj" fmla="val 12903"/>
            </a:avLst>
          </a:prstGeom>
          <a:solidFill>
            <a:srgbClr val="14141E"/>
          </a:solidFill>
          <a:ln w="1524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48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0"/>
                </a:solidFill>
              </a:rPr>
              <a:t>2. Prompt DeepSeek to avoid libraries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2048256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A8"/>
                </a:solidFill>
              </a:rPr>
              <a:t>DeepSeek 33B imports ESM packages even when not needed. Add 'no external packages' to prompts.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79192"/>
            <a:ext cx="11338560" cy="566928"/>
          </a:xfrm>
          <a:prstGeom prst="roundRect">
            <a:avLst>
              <a:gd name="adj" fmla="val 12903"/>
            </a:avLst>
          </a:prstGeom>
          <a:solidFill>
            <a:srgbClr val="14141E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249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0"/>
                </a:solidFill>
              </a:rPr>
              <a:t>3. Adopt LiteLLM as your gateway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72491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A8"/>
                </a:solidFill>
              </a:rPr>
              <a:t>Route to Claude for hard/time-sensitive tasks, Qwen 32B for low-urgency codegen at $0.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55848"/>
            <a:ext cx="11338560" cy="566928"/>
          </a:xfrm>
          <a:prstGeom prst="roundRect">
            <a:avLst>
              <a:gd name="adj" fmla="val 12903"/>
            </a:avLst>
          </a:prstGeom>
          <a:solidFill>
            <a:srgbClr val="14141E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015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0"/>
                </a:solidFill>
              </a:rPr>
              <a:t>4. Plain-English tests reveal design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401568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A8"/>
                </a:solidFill>
              </a:rPr>
              <a:t>Qwen 32B chose positional-arg API; Claude chose object API. Structured prompts mask this.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032504"/>
            <a:ext cx="11338560" cy="566928"/>
          </a:xfrm>
          <a:prstGeom prst="roundRect">
            <a:avLst>
              <a:gd name="adj" fmla="val 12903"/>
            </a:avLst>
          </a:prstGeom>
          <a:solidFill>
            <a:srgbClr val="14141E"/>
          </a:solidFill>
          <a:ln w="15240">
            <a:solidFill>
              <a:srgbClr val="FFB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0782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0"/>
                </a:solidFill>
              </a:rPr>
              <a:t>5. GPU offload changes everything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4078224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A8"/>
                </a:solidFill>
              </a:rPr>
              <a:t>Qwen 32B on CPU = 65s/call. With GPU (20GB VRAM) expect 4-8s — production viable.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709160"/>
            <a:ext cx="11338560" cy="566928"/>
          </a:xfrm>
          <a:prstGeom prst="roundRect">
            <a:avLst>
              <a:gd name="adj" fmla="val 12903"/>
            </a:avLst>
          </a:prstGeom>
          <a:solidFill>
            <a:srgbClr val="14141E"/>
          </a:solidFill>
          <a:ln w="15240">
            <a:solidFill>
              <a:srgbClr val="FFB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7548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F0"/>
                </a:solidFill>
              </a:rPr>
              <a:t>6. Run eval on every model release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475488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0A8"/>
                </a:solidFill>
              </a:rPr>
              <a:t>Re-run this suite when Qwen 3 / DeepSeek-V3 / Claude 4 drop using MODEL env var.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2026-06-17T03:02:41Z</dcterms:created>
  <dcterms:modified xsi:type="dcterms:W3CDTF">2026-06-17T03:02:41Z</dcterms:modified>
</cp:coreProperties>
</file>