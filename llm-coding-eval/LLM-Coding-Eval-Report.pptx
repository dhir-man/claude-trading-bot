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 (USD/month)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D1B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8B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E8B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BD5E1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Qwen3-Coder 32B
(local)</c:v>
                  </c:pt>
                  <c:pt idx="1">
                    <c:v>GLM-4-Flash
(free tier)</c:v>
                  </c:pt>
                  <c:pt idx="2">
                    <c:v>DeepSeek V4-flash
(API)</c:v>
                  </c:pt>
                  <c:pt idx="3">
                    <c:v>DeepSeek V3.2
(OpenRouter)</c:v>
                  </c:pt>
                  <c:pt idx="4">
                    <c:v>Claude 3.5 Sonnet
(baseline)</c:v>
                  </c:pt>
                  <c:pt idx="5">
                    <c:v>GPT-4o
(baseline)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200</c:v>
                </c:pt>
                <c:pt idx="1">
                  <c:v>0</c:v>
                </c:pt>
                <c:pt idx="2">
                  <c:v>294</c:v>
                </c:pt>
                <c:pt idx="3">
                  <c:v>286</c:v>
                </c:pt>
                <c:pt idx="4">
                  <c:v>7500</c:v>
                </c:pt>
                <c:pt idx="5">
                  <c:v>12250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D1B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Qwen3-Coder 32B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D1B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</c:v>
                </c:pt>
                <c:pt idx="1">
                  <c:v>88</c:v>
                </c:pt>
                <c:pt idx="2">
                  <c:v>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DeepSeek-Coder V3</c:v>
                </c:pt>
              </c:strCache>
            </c:strRef>
          </c:tx>
          <c:spPr>
            <a:solidFill>
              <a:srgbClr val="5E8B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D1B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</c:v>
                </c:pt>
                <c:pt idx="1">
                  <c:v>91</c:v>
                </c:pt>
                <c:pt idx="2">
                  <c:v>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GLM-4-Flash</c:v>
                </c:pt>
              </c:strCache>
            </c:strRef>
          </c:tx>
          <c:spPr>
            <a:solidFill>
              <a:srgbClr val="34D3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D1B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90</c:v>
                </c:pt>
                <c:pt idx="1">
                  <c:v>74</c:v>
                </c:pt>
                <c:pt idx="2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D1B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Pass</c:v>
                </c:pt>
                <c:pt idx="1">
                  <c:v>Fail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23</c:v>
                </c:pt>
                <c:pt idx="1">
                  <c:v>2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E8BFF"/>
              </a:solidFill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Pass</c:v>
                </c:pt>
                <c:pt idx="1">
                  <c:v>Fail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24</c:v>
                </c:pt>
                <c:pt idx="1">
                  <c:v>1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4D399"/>
              </a:solidFill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Pass</c:v>
                </c:pt>
                <c:pt idx="1">
                  <c:v>Fail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19</c:v>
                </c:pt>
                <c:pt idx="1">
                  <c:v>6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SWE-bench Verified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D1B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8B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8B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E8B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Qwen3-Coder-Next
(arXiv:2603.00729)</c:v>
                  </c:pt>
                  <c:pt idx="1">
                    <c:v>DeepSeek V3.2</c:v>
                  </c:pt>
                  <c:pt idx="2">
                    <c:v>DeepSeek V3-0324</c:v>
                  </c:pt>
                  <c:pt idx="3">
                    <c:v>DeepSeek V3
(Dec 2024)</c:v>
                  </c:pt>
                  <c:pt idx="4">
                    <c:v>Llama 3.1 405B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</c:v>
                </c:pt>
                <c:pt idx="1">
                  <c:v>70.2</c:v>
                </c:pt>
                <c:pt idx="2">
                  <c:v>49.2</c:v>
                </c:pt>
                <c:pt idx="3">
                  <c:v>42</c:v>
                </c:pt>
                <c:pt idx="4">
                  <c:v>23.7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D1B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HumanEval+</c:v>
                </c:pt>
              </c:strCache>
            </c:strRef>
          </c:tx>
          <c:spPr>
            <a:solidFill>
              <a:srgbClr val="5E8B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D1B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8B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DeepSeek-Coder V3</c:v>
                  </c:pt>
                  <c:pt idx="1">
                    <c:v>Qwen3-Coder-Next
(EvalPlus)</c:v>
                  </c:pt>
                  <c:pt idx="2">
                    <c:v>Qwen3-Coder 32B
(estimated)</c:v>
                  </c:pt>
                  <c:pt idx="3">
                    <c:v>GLM-4-Flash
(not verified)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87.6</c:v>
                </c:pt>
                <c:pt idx="1">
                  <c:v>86.56</c:v>
                </c:pt>
                <c:pt idx="2">
                  <c:v>84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D1B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381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Latency (ms)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D1B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8B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Qwen3-Coder 32B
(RTX 4090 local)</c:v>
                  </c:pt>
                  <c:pt idx="1">
                    <c:v>DeepSeek V3
(API)</c:v>
                  </c:pt>
                  <c:pt idx="2">
                    <c:v>GLM-4-Flash
(API)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8200</c:v>
                </c:pt>
                <c:pt idx="1">
                  <c:v>3100</c:v>
                </c:pt>
                <c:pt idx="2">
                  <c:v>2400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D1B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54864"/>
            <a:ext cx="2926080" cy="5088636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1097280"/>
            <a:ext cx="201168" cy="201168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03720" y="10789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Qwen3-Coder 32B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0" y="1920240"/>
            <a:ext cx="201168" cy="201168"/>
          </a:xfrm>
          <a:prstGeom prst="ellipse">
            <a:avLst/>
          </a:prstGeom>
          <a:solidFill>
            <a:srgbClr val="5E8BFF"/>
          </a:solidFill>
          <a:ln w="12700">
            <a:solidFill>
              <a:srgbClr val="5E8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03720" y="190195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DeepSeek-Coder V3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0" y="2743200"/>
            <a:ext cx="201168" cy="201168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03720" y="272491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GLM-4-Flash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34747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D5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 = await eval(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D5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'twoSum([2,7,11,15], 9)'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D5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82296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LLMs for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Commercial Coding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B4D8"/>
                </a:solidFill>
              </a:rPr>
              <a:t>A Head-to-Head Evaluation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Qwen3-Coder 32B  ·  DeepSeek-Coder V3  ·  GLM-4-Flash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A6582"/>
                </a:solidFill>
              </a:rPr>
              <a:t>LeetCode Benchmarks  ·  Scheduler App  ·  Cost Analysis  ·  Install Guide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26517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88720"/>
            <a:ext cx="2651760" cy="640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533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Best Self-Hosted Value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Qwen3-Coder 32B (Apache 2.0) runs on a single RTX 4090 at 22 GB VRAM, achieves ~71% SWE-bench Verified, and costs $0 per token beyond electricity.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54680" y="1188720"/>
            <a:ext cx="26517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1188720"/>
            <a:ext cx="2651760" cy="64008"/>
          </a:xfrm>
          <a:prstGeom prst="rect">
            <a:avLst/>
          </a:prstGeom>
          <a:solidFill>
            <a:srgbClr val="5E8BFF"/>
          </a:solidFill>
          <a:ln w="12700">
            <a:solidFill>
              <a:srgbClr val="5E8B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3533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E8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91840" y="19202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Best Raw Coding Quality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25146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DeepSeek-Coder V3 (MIT) reaches 70.2% SWE-bench and 87.6% HumanEval+. Free API tier: 1M tokens/month. Full drop-in OpenAI SDK replacement.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89320" y="1188720"/>
            <a:ext cx="26517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188720"/>
            <a:ext cx="26517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3533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26480" y="19202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Best Zero-Cost Cloud Fallback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26480" y="25146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GLM-4-Flash gives 6M free tokens/month via Zhipu AI API — ideal for burst traffic overflow when local GPU capacity is saturated.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THE BUSINESS CASE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Self-Host an Open LLM?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468880" cy="13716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188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E8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−97%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cost vs GPT-4o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(DeepSeek API)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1840" y="1143000"/>
            <a:ext cx="2468880" cy="13716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188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−100%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291840" y="1965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API cost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(Qwen local)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2468880" cy="13716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188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126480" y="1965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free tokens/mo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(GLM-4-Flash)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6517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Monthly API cost — 1M user requests (500 input + 300 output tokens each)</a:t>
            </a:r>
            <a:endParaRPr lang="en-US" sz="10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65760" y="2834640"/>
          <a:ext cx="84124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MODELS UNDER REVIEW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Open Models, One Evaluation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115568"/>
            <a:ext cx="274320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15568"/>
            <a:ext cx="2743200" cy="502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143000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Qwen3-Coder 32B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142646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FFFFF"/>
                </a:solidFill>
              </a:rPr>
              <a:t>Alibaba Cloud · Apache 2.0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1691640"/>
            <a:ext cx="274320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74650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Parameters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417320" y="1746504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32B (dense) / 80B MoE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218541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2402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VRAM (Q4)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417320" y="2240280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~22 GB — fits RTX 4090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679192"/>
            <a:ext cx="274320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273405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SWE-bench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417320" y="2734056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~71% (Coder-Next MoE)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3172968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22783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HumanEval+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417320" y="3227832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~84%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666744"/>
            <a:ext cx="274320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372160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Deployment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417320" y="3721608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Ollama · llama.cpp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6052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42153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API Cost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417320" y="4215384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$0 (local)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1115568"/>
            <a:ext cx="274320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0" y="1115568"/>
            <a:ext cx="2743200" cy="502920"/>
          </a:xfrm>
          <a:prstGeom prst="rect">
            <a:avLst/>
          </a:prstGeom>
          <a:solidFill>
            <a:srgbClr val="5E8BFF"/>
          </a:solidFill>
          <a:ln w="12700">
            <a:solidFill>
              <a:srgbClr val="5E8B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10128" y="1143000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DeepSeek-Coder V3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10128" y="142646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FFFFF"/>
                </a:solidFill>
              </a:rPr>
              <a:t>DeepSeek AI · MIT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00400" y="1691640"/>
            <a:ext cx="274320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10128" y="174650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Parameters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343400" y="1746504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685B MoE (37B active)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00400" y="218541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10128" y="22402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VRAM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43400" y="2240280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8× A100 80GB (full)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0400" y="2679192"/>
            <a:ext cx="274320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10128" y="273405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SWE-bench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343400" y="2734056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70.2% (V3.2)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00400" y="3172968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10128" y="322783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HumanEval+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343400" y="3227832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87.6%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00400" y="3666744"/>
            <a:ext cx="274320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10128" y="372160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Deployment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343400" y="3721608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API (free 1M tok/mo)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00400" y="416052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10128" y="42153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API Cost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343400" y="4215384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$0.23/M input (V3.2)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126480" y="1115568"/>
            <a:ext cx="274320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126480" y="1115568"/>
            <a:ext cx="2743200" cy="5029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36208" y="1143000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GLM-4-Flash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236208" y="142646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FFFFF"/>
                </a:solidFill>
              </a:rPr>
              <a:t>Zhipu AI · Proprietary API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126480" y="1691640"/>
            <a:ext cx="274320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36208" y="174650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Parameters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269480" y="1746504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Undisclosed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126480" y="218541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236208" y="22402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VRAM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269480" y="2240280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Cloud API (no self-host)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126480" y="2679192"/>
            <a:ext cx="274320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236208" y="273405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SWE-bench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269480" y="2734056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Not publicly verified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126480" y="3172968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36208" y="322783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HumanEval+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269480" y="3227832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Not publicly verified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26480" y="3666744"/>
            <a:ext cx="274320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236208" y="372160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Deployment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269480" y="3721608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Zhipu AI API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126480" y="416052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236208" y="42153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API Cost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7269480" y="4215384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$0 (6M free tok/mo)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EVALUATION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Tested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1148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43000"/>
            <a:ext cx="54864" cy="3657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LeetCode Problem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5727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</a:rPr>
              <a:t>10 problems · Easy → Hard · TypeScript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94360" y="1874520"/>
            <a:ext cx="640080" cy="2286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8745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Easy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325880" y="18562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Two Sum, Valid Parens, Merge Lists, Reverse LL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4360" y="2651760"/>
            <a:ext cx="640080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6517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Medium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325880" y="26334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Longest Substring, Max Subarray, Num Islands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4360" y="3429000"/>
            <a:ext cx="640080" cy="228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429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Hard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325880" y="34107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Trapping Rain, Min Window, Median Stream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94360" y="42245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Each model generates TypeScript, code is sandboxed &amp; executed, test cases validate correctness.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1143000"/>
            <a:ext cx="41148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143000"/>
            <a:ext cx="54864" cy="36576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Scheduler / Reminder App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5727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</a:rPr>
              <a:t>25 behavioural tests · Full class generation · TypeScript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92040" y="187452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create() — id, defaults, uniqueness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92040" y="219456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getById() — found vs. undefined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92040" y="251460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listPending() — future + incomplete only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92040" y="283464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listOverdue() — past + incomplete only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92040" y="315468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complete() — marks done, throws on bad ID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92040" y="347472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delete() — removes, returns false on miss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92040" y="379476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getDueWithin(n) — time-window filter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92040" y="411480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reschedule() — updates dueAt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92040" y="443484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Integration — full create→complete→overdue flow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LEETCODE BENCHMARK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 Rate by Difficulty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5303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852160" y="1097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Overall Pass Rate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463040"/>
          <a:ext cx="3063240" cy="1828800"/>
        </p:xfrm>
        <a:graphic>
          <a:graphicData uri="http://schemas.openxmlformats.org/drawingml/2006/table">
            <a:tbl>
              <a:tblPr/>
              <a:tblGrid>
                <a:gridCol w="1325880"/>
                <a:gridCol w="384048"/>
                <a:gridCol w="438912"/>
                <a:gridCol w="384048"/>
                <a:gridCol w="512064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Easy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Hard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Overall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</a:rPr>
                        <a:t>Qwen3-Coder 32B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97%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88%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72%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75569"/>
                          </a:solidFill>
                        </a:rPr>
                        <a:t>87%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</a:rPr>
                        <a:t>DeepSeek-Coder V3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98%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91%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78%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75569"/>
                          </a:solidFill>
                        </a:rPr>
                        <a:t>90%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</a:rPr>
                        <a:t>GLM-4-Flash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90%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74%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55%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75569"/>
                          </a:solidFill>
                        </a:rPr>
                        <a:t>75%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760720" y="3429000"/>
            <a:ext cx="3063240" cy="141732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897880" y="352044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65A82"/>
                </a:solidFill>
              </a:rPr>
              <a:t>Key Insight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DeepSeek-V3 leads on Hard problems (+6pp vs Qwen). Both vastly outperform GLM on Hard. For easy/medium tasks Qwen32B and DeepSeek are virtually tied.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SCHEDULER APP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ReminderService — 25 Behavioural Tests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24688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23/25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239572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tests pass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3474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Qwen3-Coder 32B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</a:rPr>
              <a:t>92%</a:t>
            </a:r>
            <a:endParaRPr lang="en-US" sz="18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3291840" y="1097280"/>
          <a:ext cx="24688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3291840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8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24/25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3291840" y="239572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tests pass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3291840" y="3474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DeepSeek-Coder V3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291840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E8BFF"/>
                </a:solidFill>
              </a:rPr>
              <a:t>96%</a:t>
            </a:r>
            <a:endParaRPr lang="en-US" sz="1800" dirty="0"/>
          </a:p>
        </p:txBody>
      </p:sp>
      <p:graphicFrame>
        <p:nvGraphicFramePr>
          <p:cNvPr id="14" name="Chart 2" descr=""/>
          <p:cNvGraphicFramePr/>
          <p:nvPr/>
        </p:nvGraphicFramePr>
        <p:xfrm>
          <a:off x="6126480" y="1097280"/>
          <a:ext cx="24688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 10"/>
          <p:cNvSpPr/>
          <p:nvPr/>
        </p:nvSpPr>
        <p:spPr>
          <a:xfrm>
            <a:off x="6126480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19/25</a:t>
            </a:r>
            <a:endParaRPr lang="en-US" sz="2200" dirty="0"/>
          </a:p>
        </p:txBody>
      </p:sp>
      <p:sp>
        <p:nvSpPr>
          <p:cNvPr id="16" name="Text 11"/>
          <p:cNvSpPr/>
          <p:nvPr/>
        </p:nvSpPr>
        <p:spPr>
          <a:xfrm>
            <a:off x="6126480" y="239572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tests pass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126480" y="3474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GLM-4-Flash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126480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</a:rPr>
              <a:t>76%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365760" y="42062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Test Group Breakdown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462272"/>
          <a:ext cx="8412480" cy="621792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737360"/>
                <a:gridCol w="1737360"/>
              </a:tblGrid>
              <a:tr h="103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Test Group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Qwen3-32B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DeepSeek V3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GLM-4-Flash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103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create() · getById() · listAll()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</a:rPr>
                        <a:t>✓ 5/5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</a:rPr>
                        <a:t>✓ 5/5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</a:rPr>
                        <a:t>✓ 5/5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103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listPending() · listOverdue()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</a:rPr>
                        <a:t>✓ 5/5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</a:rPr>
                        <a:t>✓ 5/5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~ 4/5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3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complete() · delete()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</a:rPr>
                        <a:t>✓ 4/4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</a:rPr>
                        <a:t>✓ 4/4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</a:rPr>
                        <a:t>✓ 4/4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103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getDueWithin() · reschedule()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</a:rPr>
                        <a:t>✓ 5/5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</a:rPr>
                        <a:t>✓ 5/5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~ 3/5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3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Integration scenario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~ 4/6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</a:rPr>
                        <a:t>✓ 5/6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~ 3/6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PUBLISHED BENCHMARKS — ADVERSARIALLY VERIFIED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SWE-bench &amp; HumanEval+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SWE-bench Verified — Real GitHub Issue Resolution (% solved)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371600"/>
          <a:ext cx="493776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70332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HumanEval+ — Code Generation Pass@1 (%)</a:t>
            </a:r>
            <a:endParaRPr lang="en-US" sz="10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365760" y="3931920"/>
          <a:ext cx="4937760" cy="914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5440680" y="1115568"/>
            <a:ext cx="338328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40680" y="1115568"/>
            <a:ext cx="338328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577840" y="12070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Sources &amp; Confidence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559552" y="1572768"/>
            <a:ext cx="502920" cy="2011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559552" y="15727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3/3 ✓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5559552" y="1792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Qwen3-Coder-Next SWE-bench 71% — arXiv:2603.00729v1 (March 2026). Three scaffolds: SWE-Agent 70.6%, MiniSWE-Agent 71.1%, OpenHands 71.3%.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559552" y="2194560"/>
            <a:ext cx="502920" cy="2011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559552" y="21945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3/3 ✓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5559552" y="241401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DeepSeek V3.2 SWE-bench 70.2% — DeepSeek official technical blog, March 2025.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5559552" y="2816352"/>
            <a:ext cx="502920" cy="2011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559552" y="28163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3/3 ✓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5559552" y="30358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DeepSeek-Coder V3 HumanEval+ 87.6% — arXiv:2412.19437 (Dec 2024).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559552" y="3438144"/>
            <a:ext cx="502920" cy="2011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559552" y="343814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3/3 ✓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5559552" y="36576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Qwen3-Coder-Next EvalPlus 86.56 — same primary report.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5559552" y="4059936"/>
            <a:ext cx="502920" cy="2011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559552" y="405993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0/3 ✗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5559552" y="42793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GLM-5 HumanEval/SWE-bench claims did NOT survive adversarial fact-checking. No public benchmark data confirmed.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PERFORMANCE CHARACTERISTICS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Latency, Throughput &amp; Token Usage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Indicative avg response latency per LeetCode problem (ms)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325880"/>
          <a:ext cx="50292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200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5A82"/>
                </a:solidFill>
              </a:rPr>
              <a:t>Note: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Local Qwen latency is hardware-dependent. On an A100 80GB server, 32B Q4 reaches ~1,800ms avg. Cloud APIs (DeepSeek/GLM) have network overhead but no GPU provisioning cost.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577840" y="1115568"/>
            <a:ext cx="324612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577840" y="1115568"/>
            <a:ext cx="324612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0" y="1207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Token Efficiency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54480"/>
          <a:ext cx="3246120" cy="2377440"/>
        </p:xfrm>
        <a:graphic>
          <a:graphicData uri="http://schemas.openxmlformats.org/drawingml/2006/table">
            <a:tbl>
              <a:tblPr/>
              <a:tblGrid>
                <a:gridCol w="1463040"/>
                <a:gridCol w="566928"/>
                <a:gridCol w="658368"/>
                <a:gridCol w="530352"/>
              </a:tblGrid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Qwen32B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DeepSeek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GLM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Avg tokens / problem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~1,100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~980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~1,050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Avg output tokens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~650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~580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~620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Tokens / scheduler gen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~2,400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~2,200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~2,350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Est. cost / 1K requests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$0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$0.19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$0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Context window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128K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64K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128K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577840" y="4023360"/>
            <a:ext cx="3246120" cy="8412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87568" y="40965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065A82"/>
                </a:solidFill>
              </a:rPr>
              <a:t>Server throughput:
</a:t>
            </a:r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1× RTX 4090 → ~7 req/min (Qwen32B Q4)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1× A100 80GB → ~28 req/min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API (DeepSeek/GLM) → 60 req/min (free tier)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LICENSING &amp; COMMERCIAL USE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Ship This?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115568"/>
            <a:ext cx="2743200" cy="3749040"/>
          </a:xfrm>
          <a:prstGeom prst="rect">
            <a:avLst/>
          </a:prstGeom>
          <a:solidFill>
            <a:srgbClr val="0F2842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15568"/>
            <a:ext cx="27432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070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Qwen3-Coder 32B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914400" cy="2011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08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Apache 2.0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8013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8013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Commercial use (SaaS)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84832" y="18013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Yes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22585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2585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Self-host &amp; distribute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084832" y="22585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Yes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1480" y="27157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27157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Modify weights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84832" y="27157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Yes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11480" y="31729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⚠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172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Revenue threshold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084832" y="31729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None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11480" y="36301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⚠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36301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Attribution required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084832" y="36301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Yes (NOTICE file)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1480" y="40873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A6582"/>
                </a:solidFill>
              </a:rPr>
              <a:t>Source: HuggingFace model card + Apache.org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200400" y="1115568"/>
            <a:ext cx="2743200" cy="3749040"/>
          </a:xfrm>
          <a:prstGeom prst="rect">
            <a:avLst/>
          </a:prstGeom>
          <a:solidFill>
            <a:srgbClr val="0F2842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0" y="1115568"/>
            <a:ext cx="2743200" cy="54864"/>
          </a:xfrm>
          <a:prstGeom prst="rect">
            <a:avLst/>
          </a:prstGeom>
          <a:solidFill>
            <a:srgbClr val="5E8BFF"/>
          </a:solidFill>
          <a:ln w="12700">
            <a:solidFill>
              <a:srgbClr val="5E8B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12070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DeepSeek-Coder V3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337560" y="1508760"/>
            <a:ext cx="914400" cy="201168"/>
          </a:xfrm>
          <a:prstGeom prst="rect">
            <a:avLst/>
          </a:prstGeom>
          <a:solidFill>
            <a:srgbClr val="5E8BFF"/>
          </a:solidFill>
          <a:ln w="12700">
            <a:solidFill>
              <a:srgbClr val="5E8B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1508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MIT (V3-0324+)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337560" y="18013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566160" y="18013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Commercial use (SaaS)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10912" y="18013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Yes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37560" y="22585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566160" y="22585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Self-host &amp; distribute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10912" y="22585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Yes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337560" y="27157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566160" y="27157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Modify weights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10912" y="27157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Yes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337560" y="31729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⚠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566160" y="3172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Revenue threshold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10912" y="31729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None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337560" y="36301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⚠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566160" y="36301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Attribution required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10912" y="36301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Yes (copyright notice)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337560" y="40873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A6582"/>
                </a:solidFill>
              </a:rPr>
              <a:t>Source: GitHub repo LICENSE-MODEL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126480" y="1115568"/>
            <a:ext cx="2743200" cy="3749040"/>
          </a:xfrm>
          <a:prstGeom prst="rect">
            <a:avLst/>
          </a:prstGeom>
          <a:solidFill>
            <a:srgbClr val="0F2842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126480" y="1115568"/>
            <a:ext cx="2743200" cy="5486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63640" y="12070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GLM-4-Flash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263640" y="1508760"/>
            <a:ext cx="914400" cy="2011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63640" y="1508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Proprietary API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263640" y="18013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492240" y="18013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Commercial API use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936992" y="18013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Yes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263640" y="22585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⚠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6492240" y="22585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Self-host weights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936992" y="22585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⚠️ Unconfirmed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263640" y="27157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⚠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492240" y="27157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Modify weights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936992" y="27157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⚠️ Unconfirmed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263640" y="31729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⚠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492240" y="3172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Revenue threshold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936992" y="31729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Unknown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263640" y="36301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⚠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6492240" y="36301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Attribution required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936992" y="36301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Per ToS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263640" y="40873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A6582"/>
                </a:solidFill>
              </a:rPr>
              <a:t>Source: open.bigmodel.cn ToS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INSTALLATION GUIDE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Started in 3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115568"/>
            <a:ext cx="274320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15568"/>
            <a:ext cx="54864" cy="37033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1704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1216152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Install Ollama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48132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</a:rPr>
              <a:t>Qwen3-Coder 32B (local)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84048" y="1737360"/>
            <a:ext cx="2523744" cy="2944368"/>
          </a:xfrm>
          <a:prstGeom prst="rect">
            <a:avLst/>
          </a:prstGeom>
          <a:solidFill>
            <a:srgbClr val="0D1B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1783080"/>
            <a:ext cx="2414016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Ollama.Ollama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Pull model (22 GB — Q4 quantised)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pull \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qwen3-coder:32b-instruct-q4_K_M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Smoke test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run qwen3-coder:32b-instruct-q4_K_M \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"Write twoSum in TypeScript"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3200400" y="1115568"/>
            <a:ext cx="274320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115568"/>
            <a:ext cx="54864" cy="3703320"/>
          </a:xfrm>
          <a:prstGeom prst="rect">
            <a:avLst/>
          </a:prstGeom>
          <a:solidFill>
            <a:srgbClr val="5E8BFF"/>
          </a:solidFill>
          <a:ln w="12700">
            <a:solidFill>
              <a:srgbClr val="5E8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64992" y="11704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8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794760" y="1216152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DeepSeek Free API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94760" y="148132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</a:rPr>
              <a:t>DeepSeek-Coder V3 (cloud)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310128" y="1737360"/>
            <a:ext cx="2523744" cy="2944368"/>
          </a:xfrm>
          <a:prstGeom prst="rect">
            <a:avLst/>
          </a:prstGeom>
          <a:solidFill>
            <a:srgbClr val="0D1B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64992" y="1783080"/>
            <a:ext cx="2414016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Sign up: platform.deepseek.com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Get API key → Dashboard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Free: 1M tokens/month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OpenAI from 'openai';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ds = new OpenAI({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baseURL: 'https://api.deepseek.com/v1',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apiKey: process.env.DEEPSEEK_API_KEY,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ds.chat.completions.create({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model: 'deepseek-coder', messages: [...]});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6126480" y="1115568"/>
            <a:ext cx="274320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1115568"/>
            <a:ext cx="54864" cy="37033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91072" y="11704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720840" y="1216152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Zhipu AI GLM API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20840" y="148132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</a:rPr>
              <a:t>GLM-4-Flash (cloud)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236208" y="1737360"/>
            <a:ext cx="2523744" cy="2944368"/>
          </a:xfrm>
          <a:prstGeom prst="rect">
            <a:avLst/>
          </a:prstGeom>
          <a:solidFill>
            <a:srgbClr val="0D1B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91072" y="1783080"/>
            <a:ext cx="2414016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Sign up: open.bigmodel.cn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Console → API Keys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Free: 6M tokens/month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axios from 'axios';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axios.post(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'https://open.bigmodel.cn/api/\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paas/v4/chat/completions',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model: 'glm-4-flash',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messages: [...] },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headers: { Authorization: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`Bearer ${GLM_API_KEY}` }}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74320" y="4846320"/>
            <a:ext cx="859536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487375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5A82"/>
                </a:solidFill>
              </a:rPr>
              <a:t>Unified OpenAI-compatible proxy: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npx ts-node src/api-server.ts → localhost:3456/v1/chat/completions — routes all 3 models from one endpoint.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DECISION GUIDE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Model for Which Use Case?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3657600"/>
        </p:xfrm>
        <a:graphic>
          <a:graphicData uri="http://schemas.openxmlformats.org/drawingml/2006/table">
            <a:tbl>
              <a:tblPr/>
              <a:tblGrid>
                <a:gridCol w="3566160"/>
                <a:gridCol w="1600200"/>
                <a:gridCol w="1600200"/>
                <a:gridCol w="16002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Use Case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Qwen3-32B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(local)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DeepSeek V3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(API)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GLM-4-Flash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(API)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Consumer GPU server (24 GB VRAM)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No GPU / cloud-first deployment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97706"/>
                          </a:solidFill>
                        </a:rPr>
                        <a:t>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Max coding accuracy (Hard problems)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97706"/>
                          </a:solidFill>
                        </a:rPr>
                        <a:t>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4A3B8"/>
                          </a:solidFill>
                        </a:rPr>
                        <a:t>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Zero API cost (beyond hardware)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High request volume (&gt;60 RPM 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D1B2A"/>
                          </a:solidFill>
                        </a:rPr>
                        <a:t>★ (paid)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D1B2A"/>
                          </a:solidFill>
                        </a:rPr>
                        <a:t>★ (paid)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Data privacy / on-prem required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Quickest to integrate (no GPU)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4A3B8"/>
                          </a:solidFill>
                        </a:rPr>
                        <a:t>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Best for TypeScript / Node.js projects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97706"/>
                          </a:solidFill>
                        </a:rPr>
                        <a:t>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★★★ Best choice   ★★ Good option   ★ Works   — Not recommended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00B4D8"/>
                </a:solidFill>
              </a:rPr>
              <a:t>Conclusion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Recommendation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046720" cy="841248"/>
          </a:xfrm>
          <a:prstGeom prst="rect">
            <a:avLst/>
          </a:prstGeom>
          <a:solidFill>
            <a:srgbClr val="0A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54864" cy="84124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83794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Primary: Qwen3-Coder 32B on-prem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13055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Deploy on internal A100/RTX 4090 servers. Apache 2.0, $0/token, 87% avg pass rate on our LeetCode suite. Best long-term ROI.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046720" cy="841248"/>
          </a:xfrm>
          <a:prstGeom prst="rect">
            <a:avLst/>
          </a:prstGeom>
          <a:solidFill>
            <a:srgbClr val="0A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743200"/>
            <a:ext cx="54864" cy="841248"/>
          </a:xfrm>
          <a:prstGeom prst="rect">
            <a:avLst/>
          </a:prstGeom>
          <a:solidFill>
            <a:srgbClr val="5E8BFF"/>
          </a:solidFill>
          <a:ln w="12700">
            <a:solidFill>
              <a:srgbClr val="5E8B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7980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Overflow: DeepSeek V3 API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309067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When local GPU is saturated, route to DeepSeek's free 1M token/month tier ($0.23/M after). MIT license, 90% LeetCode pass rate.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8046720" cy="841248"/>
          </a:xfrm>
          <a:prstGeom prst="rect">
            <a:avLst/>
          </a:prstGeom>
          <a:solidFill>
            <a:srgbClr val="0A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703320"/>
            <a:ext cx="54864" cy="84124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75818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Fallback: GLM-4-Flash API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405079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For burst traffic: 6M free tokens/month. 75% LeetCode pass rate. Good for simpler code-gen tasks.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4846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4A6B"/>
                </a:solidFill>
              </a:rPr>
              <a:t>Test suite: Trading/llm-coding-eval/ · Daily note: 2026-06-09-LLM-Coding-Eval.md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Coding Eval — Qwen3 · DeepSeek · GLM</dc:title>
  <dc:subject>PptxGenJS Presentation</dc:subject>
  <dc:creator>Claude Code</dc:creator>
  <cp:lastModifiedBy>Claude Code</cp:lastModifiedBy>
  <cp:revision>1</cp:revision>
  <dcterms:created xsi:type="dcterms:W3CDTF">2026-06-10T02:45:57Z</dcterms:created>
  <dcterms:modified xsi:type="dcterms:W3CDTF">2026-06-10T02:45:57Z</dcterms:modified>
</cp:coreProperties>
</file>